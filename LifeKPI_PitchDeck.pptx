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1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Allocation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0C9A7"/>
              </a:solidFill>
              <a:effectLst/>
            </c:spPr>
          </c:dPt>
          <c:dPt>
            <c:idx val="1"/>
            <c:bubble3D val="0"/>
            <c:spPr>
              <a:solidFill>
                <a:srgbClr val="00A896"/>
              </a:solidFill>
              <a:effectLst/>
            </c:spPr>
          </c:dPt>
          <c:dPt>
            <c:idx val="2"/>
            <c:bubble3D val="0"/>
            <c:spPr>
              <a:solidFill>
                <a:srgbClr val="1C7293"/>
              </a:solidFill>
              <a:effectLst/>
            </c:spPr>
          </c:dPt>
          <c:dPt>
            <c:idx val="3"/>
            <c:bubble3D val="0"/>
            <c:spPr>
              <a:solidFill>
                <a:srgbClr val="065A82"/>
              </a:solidFill>
              <a:effectLst/>
            </c:spPr>
          </c:dPt>
          <c:dPt>
            <c:idx val="4"/>
            <c:bubble3D val="0"/>
            <c:spPr>
              <a:solidFill>
                <a:srgbClr val="3A6EA5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0D1B2A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0D1B2A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0D1B2A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0D1B2A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0D1B2A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Product Dev (40%)</c:v>
                </c:pt>
                <c:pt idx="1">
                  <c:v>AI Dev (20%)</c:v>
                </c:pt>
                <c:pt idx="2">
                  <c:v>Marketing (20%)</c:v>
                </c:pt>
                <c:pt idx="3">
                  <c:v>Infrastructure (10%)</c:v>
                </c:pt>
                <c:pt idx="4">
                  <c:v>Operations (10%)</c:v>
                </c:pt>
              </c:strCache>
            </c:strRef>
          </c:cat>
          <c:val>
            <c:numRef>
              <c:f>Sheet1!$B$2:$B$6</c:f>
              <c:numCache>
                <c:ptCount val="5"/>
                <c:pt idx="0">
                  <c:v>40</c:v>
                </c:pt>
                <c:pt idx="1">
                  <c:v>20</c:v>
                </c:pt>
                <c:pt idx="2">
                  <c:v>20</c:v>
                </c:pt>
                <c:pt idx="3">
                  <c:v>10</c:v>
                </c:pt>
                <c:pt idx="4">
                  <c:v>10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100">
              <a:solidFill>
                <a:srgbClr val="D8E4F0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0D1B2A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18872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 KPI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502920" y="237744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spc="200" kern="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Personal Life Operating System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02920" y="3108960"/>
            <a:ext cx="1828800" cy="411480"/>
          </a:xfrm>
          <a:prstGeom prst="rect">
            <a:avLst/>
          </a:prstGeom>
          <a:solidFill>
            <a:srgbClr val="142333"/>
          </a:solidFill>
          <a:ln w="19050">
            <a:solidFill>
              <a:srgbClr val="00C9A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310896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514600" y="3108960"/>
            <a:ext cx="1828800" cy="411480"/>
          </a:xfrm>
          <a:prstGeom prst="rect">
            <a:avLst/>
          </a:prstGeom>
          <a:solidFill>
            <a:srgbClr val="142333"/>
          </a:solidFill>
          <a:ln w="19050">
            <a:solidFill>
              <a:srgbClr val="00C9A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14600" y="310896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26280" y="3108960"/>
            <a:ext cx="1828800" cy="411480"/>
          </a:xfrm>
          <a:prstGeom prst="rect">
            <a:avLst/>
          </a:prstGeom>
          <a:solidFill>
            <a:srgbClr val="142333"/>
          </a:solidFill>
          <a:ln w="19050">
            <a:solidFill>
              <a:srgbClr val="00C9A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26280" y="310896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537960" y="3108960"/>
            <a:ext cx="1828800" cy="411480"/>
          </a:xfrm>
          <a:prstGeom prst="rect">
            <a:avLst/>
          </a:prstGeom>
          <a:solidFill>
            <a:srgbClr val="142333"/>
          </a:solidFill>
          <a:ln w="19050">
            <a:solidFill>
              <a:srgbClr val="00C9A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37960" y="310896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02920" y="4206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B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Pitch Deck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932688"/>
            <a:ext cx="8229600" cy="36576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972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manage life with: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508760"/>
            <a:ext cx="347472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D8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Notes apps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D8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To-do apps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D8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Habit trackers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D8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D8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Journals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D8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apps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D8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397764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manage work with KPIs.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Nobody manages life with KPIs.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0" y="109728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3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0" y="1463040"/>
          <a:ext cx="4206240" cy="3200400"/>
        </p:xfrm>
        <a:graphic>
          <a:graphicData uri="http://schemas.openxmlformats.org/drawingml/2006/table">
            <a:tbl>
              <a:tblPr/>
              <a:tblGrid>
                <a:gridCol w="2286000"/>
                <a:gridCol w="1920240"/>
              </a:tblGrid>
              <a:tr h="533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C9A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Problem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C9A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Impact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3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D8E4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Forgotten responsibilities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D8E4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Missed commitments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3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D8E4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measurable progress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D8E4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 motivation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3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D8E4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 many tools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D8E4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Mental overload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3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D8E4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Poor life balance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D8E4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Neglected priorities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3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D8E4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accountability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D8E4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Inconsistent growth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Opportunity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932688"/>
            <a:ext cx="8229600" cy="36576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972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Billion+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457200" y="1965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8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Addressable Users Globally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2514600"/>
            <a:ext cx="1920240" cy="1325880"/>
          </a:xfrm>
          <a:prstGeom prst="rect">
            <a:avLst/>
          </a:prstGeom>
          <a:solidFill>
            <a:srgbClr val="142333"/>
          </a:solidFill>
          <a:ln w="12700">
            <a:solidFill>
              <a:srgbClr val="1E344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2624328"/>
            <a:ext cx="1920240" cy="7292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500M+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457200" y="3283610"/>
            <a:ext cx="1920240" cy="5038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8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606040" y="2514600"/>
            <a:ext cx="1920240" cy="1325880"/>
          </a:xfrm>
          <a:prstGeom prst="rect">
            <a:avLst/>
          </a:prstGeom>
          <a:solidFill>
            <a:srgbClr val="142333"/>
          </a:solidFill>
          <a:ln w="12700">
            <a:solidFill>
              <a:srgbClr val="1E344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606040" y="2624328"/>
            <a:ext cx="1920240" cy="7292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300M+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2606040" y="3283610"/>
            <a:ext cx="1920240" cy="5038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8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Self-improvement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54880" y="2514600"/>
            <a:ext cx="1920240" cy="1325880"/>
          </a:xfrm>
          <a:prstGeom prst="rect">
            <a:avLst/>
          </a:prstGeom>
          <a:solidFill>
            <a:srgbClr val="142333"/>
          </a:solidFill>
          <a:ln w="12700">
            <a:solidFill>
              <a:srgbClr val="1E344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754880" y="2624328"/>
            <a:ext cx="1920240" cy="7292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250M+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4754880" y="3283610"/>
            <a:ext cx="1920240" cy="5038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8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903720" y="2514600"/>
            <a:ext cx="1920240" cy="1325880"/>
          </a:xfrm>
          <a:prstGeom prst="rect">
            <a:avLst/>
          </a:prstGeom>
          <a:solidFill>
            <a:srgbClr val="142333"/>
          </a:solidFill>
          <a:ln w="12700">
            <a:solidFill>
              <a:srgbClr val="1E344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903720" y="2624328"/>
            <a:ext cx="1920240" cy="7292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100M+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6903720" y="3283610"/>
            <a:ext cx="1920240" cy="5038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8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Productivity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D8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Enthusiasts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3977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Trends Driving Demand: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42976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D8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Productivity Software Growth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D8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Habit &amp; Self-Improvement Boom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D8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Knowledge Management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D8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Personal Coaching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D8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Mental Wellness Platforms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Solutions Fall Short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932688"/>
            <a:ext cx="8229600" cy="36576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9728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Competitors &amp; Their Limits</a:t>
            </a:r>
            <a:endParaRPr lang="en-US" sz="13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63040"/>
          <a:ext cx="4114800" cy="3200400"/>
        </p:xfrm>
        <a:graphic>
          <a:graphicData uri="http://schemas.openxmlformats.org/drawingml/2006/table">
            <a:tbl>
              <a:tblPr/>
              <a:tblGrid>
                <a:gridCol w="1828800"/>
                <a:gridCol w="22860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C9A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C9A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D8E4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D8E4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 flexible, no structure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D8E4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Todoist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D8E4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Tasks only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D8E4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Habitica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D8E4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Habits only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D8E4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Habit trackers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D8E4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life system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D8E4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Journals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D8E4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measurement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D8E4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Calendars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D8E4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accountability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3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846320" y="10972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product combines all this: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4846320" y="1463040"/>
            <a:ext cx="3840480" cy="393192"/>
          </a:xfrm>
          <a:prstGeom prst="rect">
            <a:avLst/>
          </a:prstGeom>
          <a:solidFill>
            <a:srgbClr val="142333"/>
          </a:solidFill>
          <a:ln w="12700">
            <a:solidFill>
              <a:srgbClr val="1E344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4846320" y="1463040"/>
            <a:ext cx="73152" cy="393192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074920" y="1463040"/>
            <a:ext cx="35661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 Areas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846320" y="1947672"/>
            <a:ext cx="3840480" cy="393192"/>
          </a:xfrm>
          <a:prstGeom prst="rect">
            <a:avLst/>
          </a:prstGeom>
          <a:solidFill>
            <a:srgbClr val="142333"/>
          </a:solidFill>
          <a:ln w="12700">
            <a:solidFill>
              <a:srgbClr val="1E344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846320" y="1947672"/>
            <a:ext cx="73152" cy="393192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074920" y="1947672"/>
            <a:ext cx="35661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4846320" y="2432304"/>
            <a:ext cx="3840480" cy="393192"/>
          </a:xfrm>
          <a:prstGeom prst="rect">
            <a:avLst/>
          </a:prstGeom>
          <a:solidFill>
            <a:srgbClr val="142333"/>
          </a:solidFill>
          <a:ln w="12700">
            <a:solidFill>
              <a:srgbClr val="1E344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846320" y="2432304"/>
            <a:ext cx="73152" cy="393192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074920" y="2432304"/>
            <a:ext cx="35661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Activities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4846320" y="2916936"/>
            <a:ext cx="3840480" cy="393192"/>
          </a:xfrm>
          <a:prstGeom prst="rect">
            <a:avLst/>
          </a:prstGeom>
          <a:solidFill>
            <a:srgbClr val="142333"/>
          </a:solidFill>
          <a:ln w="12700">
            <a:solidFill>
              <a:srgbClr val="1E344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4846320" y="2916936"/>
            <a:ext cx="73152" cy="393192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074920" y="2916936"/>
            <a:ext cx="35661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4846320" y="3401568"/>
            <a:ext cx="3840480" cy="393192"/>
          </a:xfrm>
          <a:prstGeom prst="rect">
            <a:avLst/>
          </a:prstGeom>
          <a:solidFill>
            <a:srgbClr val="142333"/>
          </a:solidFill>
          <a:ln w="12700">
            <a:solidFill>
              <a:srgbClr val="1E344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4846320" y="3401568"/>
            <a:ext cx="73152" cy="393192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074920" y="3401568"/>
            <a:ext cx="35661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4846320" y="3886200"/>
            <a:ext cx="3840480" cy="393192"/>
          </a:xfrm>
          <a:prstGeom prst="rect">
            <a:avLst/>
          </a:prstGeom>
          <a:solidFill>
            <a:srgbClr val="142333"/>
          </a:solidFill>
          <a:ln w="12700">
            <a:solidFill>
              <a:srgbClr val="1E344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4846320" y="3886200"/>
            <a:ext cx="73152" cy="393192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074920" y="3886200"/>
            <a:ext cx="35661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4846320" y="4370832"/>
            <a:ext cx="3840480" cy="393192"/>
          </a:xfrm>
          <a:prstGeom prst="rect">
            <a:avLst/>
          </a:prstGeom>
          <a:solidFill>
            <a:srgbClr val="142333"/>
          </a:solidFill>
          <a:ln w="12700">
            <a:solidFill>
              <a:srgbClr val="1E344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4846320" y="4370832"/>
            <a:ext cx="73152" cy="393192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074920" y="4370832"/>
            <a:ext cx="35661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Coaching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932688"/>
            <a:ext cx="8229600" cy="36576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51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D8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 KPI — A structured system for managing life.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31520" y="1600200"/>
            <a:ext cx="822960" cy="822960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6002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1600200" y="2011680"/>
            <a:ext cx="411480" cy="0"/>
          </a:xfrm>
          <a:prstGeom prst="line">
            <a:avLst/>
          </a:prstGeom>
          <a:noFill/>
          <a:ln w="25400">
            <a:solidFill>
              <a:srgbClr val="00C9A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5146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926080"/>
            <a:ext cx="1371600" cy="1737360"/>
          </a:xfrm>
          <a:prstGeom prst="rect">
            <a:avLst/>
          </a:prstGeom>
          <a:solidFill>
            <a:srgbClr val="142333"/>
          </a:solidFill>
          <a:ln w="12700">
            <a:solidFill>
              <a:srgbClr val="1E344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21208" y="2971800"/>
            <a:ext cx="1243584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8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life areas that matter most to you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194560" y="1600200"/>
            <a:ext cx="822960" cy="822960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194560" y="16002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3063240" y="2011680"/>
            <a:ext cx="411480" cy="0"/>
          </a:xfrm>
          <a:prstGeom prst="line">
            <a:avLst/>
          </a:prstGeom>
          <a:noFill/>
          <a:ln w="25400">
            <a:solidFill>
              <a:srgbClr val="00C9A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920240" y="25146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920240" y="2926080"/>
            <a:ext cx="1371600" cy="1737360"/>
          </a:xfrm>
          <a:prstGeom prst="rect">
            <a:avLst/>
          </a:prstGeom>
          <a:solidFill>
            <a:srgbClr val="142333"/>
          </a:solidFill>
          <a:ln w="12700">
            <a:solidFill>
              <a:srgbClr val="1E344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1984248" y="2971800"/>
            <a:ext cx="1243584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8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measurable targets for each category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0" y="1600200"/>
            <a:ext cx="822960" cy="822960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0" y="16002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4526280" y="2011680"/>
            <a:ext cx="411480" cy="0"/>
          </a:xfrm>
          <a:prstGeom prst="line">
            <a:avLst/>
          </a:prstGeom>
          <a:noFill/>
          <a:ln w="25400">
            <a:solidFill>
              <a:srgbClr val="00C9A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83280" y="25146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Subtask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383280" y="2926080"/>
            <a:ext cx="1371600" cy="1737360"/>
          </a:xfrm>
          <a:prstGeom prst="rect">
            <a:avLst/>
          </a:prstGeom>
          <a:solidFill>
            <a:srgbClr val="142333"/>
          </a:solidFill>
          <a:ln w="12700">
            <a:solidFill>
              <a:srgbClr val="1E344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447288" y="2971800"/>
            <a:ext cx="1243584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8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KPIs into actionable steps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120640" y="1600200"/>
            <a:ext cx="822960" cy="822960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120640" y="16002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5" name="Shape 23"/>
          <p:cNvSpPr/>
          <p:nvPr/>
        </p:nvSpPr>
        <p:spPr>
          <a:xfrm>
            <a:off x="5989320" y="2011680"/>
            <a:ext cx="411480" cy="0"/>
          </a:xfrm>
          <a:prstGeom prst="line">
            <a:avLst/>
          </a:prstGeom>
          <a:noFill/>
          <a:ln w="25400">
            <a:solidFill>
              <a:srgbClr val="00C9A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46320" y="25146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846320" y="2926080"/>
            <a:ext cx="1371600" cy="1737360"/>
          </a:xfrm>
          <a:prstGeom prst="rect">
            <a:avLst/>
          </a:prstGeom>
          <a:solidFill>
            <a:srgbClr val="142333"/>
          </a:solidFill>
          <a:ln w="12700">
            <a:solidFill>
              <a:srgbClr val="1E344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4910328" y="2971800"/>
            <a:ext cx="1243584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8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daily progress and activities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583680" y="1600200"/>
            <a:ext cx="822960" cy="822960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583680" y="16002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 dirty="0"/>
          </a:p>
        </p:txBody>
      </p:sp>
      <p:sp>
        <p:nvSpPr>
          <p:cNvPr id="31" name="Shape 29"/>
          <p:cNvSpPr/>
          <p:nvPr/>
        </p:nvSpPr>
        <p:spPr>
          <a:xfrm>
            <a:off x="7452360" y="2011680"/>
            <a:ext cx="411480" cy="0"/>
          </a:xfrm>
          <a:prstGeom prst="line">
            <a:avLst/>
          </a:prstGeom>
          <a:noFill/>
          <a:ln w="25400">
            <a:solidFill>
              <a:srgbClr val="00C9A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09360" y="25146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6309360" y="2926080"/>
            <a:ext cx="1371600" cy="1737360"/>
          </a:xfrm>
          <a:prstGeom prst="rect">
            <a:avLst/>
          </a:prstGeom>
          <a:solidFill>
            <a:srgbClr val="142333"/>
          </a:solidFill>
          <a:ln w="12700">
            <a:solidFill>
              <a:srgbClr val="1E344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6373368" y="2971800"/>
            <a:ext cx="1243584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8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and monthly performance reviews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8046720" y="1600200"/>
            <a:ext cx="822960" cy="822960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046720" y="16002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200" dirty="0"/>
          </a:p>
        </p:txBody>
      </p:sp>
      <p:sp>
        <p:nvSpPr>
          <p:cNvPr id="37" name="Text 35"/>
          <p:cNvSpPr/>
          <p:nvPr/>
        </p:nvSpPr>
        <p:spPr>
          <a:xfrm>
            <a:off x="7772400" y="25146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7772400" y="2926080"/>
            <a:ext cx="1371600" cy="1737360"/>
          </a:xfrm>
          <a:prstGeom prst="rect">
            <a:avLst/>
          </a:prstGeom>
          <a:solidFill>
            <a:srgbClr val="142333"/>
          </a:solidFill>
          <a:ln w="12700">
            <a:solidFill>
              <a:srgbClr val="1E344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7836408" y="2971800"/>
            <a:ext cx="1243584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8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 drive continuous improvement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stop managing tasks.  Users manage outcomes.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 KPI in Action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932688"/>
            <a:ext cx="8229600" cy="36576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51560"/>
            <a:ext cx="2560320" cy="1828800"/>
          </a:xfrm>
          <a:prstGeom prst="rect">
            <a:avLst/>
          </a:prstGeom>
          <a:solidFill>
            <a:srgbClr val="142333"/>
          </a:solidFill>
          <a:ln w="12700">
            <a:solidFill>
              <a:srgbClr val="1E344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94360" y="11430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Rahul, 31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94360" y="15087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Engineer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94360" y="1874520"/>
            <a:ext cx="2286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8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Struggling to balance health, finances, relationships, learning and career — all managed across 6 different apps.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291840" y="105156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 →  KPI  →  Subtask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91840" y="1417320"/>
            <a:ext cx="5394960" cy="347472"/>
          </a:xfrm>
          <a:prstGeom prst="rect">
            <a:avLst/>
          </a:prstGeom>
          <a:solidFill>
            <a:srgbClr val="142333"/>
          </a:solidFill>
          <a:ln w="12700">
            <a:solidFill>
              <a:srgbClr val="1E344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383280" y="141732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800600" y="141732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20 days/month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223760" y="141732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8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Gym sessions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91840" y="1828800"/>
            <a:ext cx="5394960" cy="347472"/>
          </a:xfrm>
          <a:prstGeom prst="rect">
            <a:avLst/>
          </a:prstGeom>
          <a:solidFill>
            <a:srgbClr val="142333"/>
          </a:solidFill>
          <a:ln w="12700">
            <a:solidFill>
              <a:srgbClr val="1E344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383280" y="182880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00600" y="182880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₹20,000/month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223760" y="182880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8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review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91840" y="2240280"/>
            <a:ext cx="5394960" cy="347472"/>
          </a:xfrm>
          <a:prstGeom prst="rect">
            <a:avLst/>
          </a:prstGeom>
          <a:solidFill>
            <a:srgbClr val="142333"/>
          </a:solidFill>
          <a:ln w="12700">
            <a:solidFill>
              <a:srgbClr val="1E344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383280" y="224028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00600" y="224028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 friends monthly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223760" y="224028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8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activities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291840" y="2651760"/>
            <a:ext cx="5394960" cy="347472"/>
          </a:xfrm>
          <a:prstGeom prst="rect">
            <a:avLst/>
          </a:prstGeom>
          <a:solidFill>
            <a:srgbClr val="142333"/>
          </a:solidFill>
          <a:ln w="12700">
            <a:solidFill>
              <a:srgbClr val="1E344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383280" y="265176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800600" y="265176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24 books/year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223760" y="265176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8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sessions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291840" y="315468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tracking creates: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291840" y="3520440"/>
            <a:ext cx="1234440" cy="502920"/>
          </a:xfrm>
          <a:prstGeom prst="rect">
            <a:avLst/>
          </a:prstGeom>
          <a:solidFill>
            <a:srgbClr val="142333"/>
          </a:solidFill>
          <a:ln w="12700">
            <a:solidFill>
              <a:srgbClr val="1E344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291840" y="352044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663440" y="3520440"/>
            <a:ext cx="1234440" cy="502920"/>
          </a:xfrm>
          <a:prstGeom prst="rect">
            <a:avLst/>
          </a:prstGeom>
          <a:solidFill>
            <a:srgbClr val="142333"/>
          </a:solidFill>
          <a:ln w="12700">
            <a:solidFill>
              <a:srgbClr val="1E344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663440" y="352044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035040" y="3520440"/>
            <a:ext cx="1234440" cy="502920"/>
          </a:xfrm>
          <a:prstGeom prst="rect">
            <a:avLst/>
          </a:prstGeom>
          <a:solidFill>
            <a:srgbClr val="142333"/>
          </a:solidFill>
          <a:ln w="12700">
            <a:solidFill>
              <a:srgbClr val="1E344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6035040" y="352044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Accountability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7406640" y="3520440"/>
            <a:ext cx="1234440" cy="502920"/>
          </a:xfrm>
          <a:prstGeom prst="rect">
            <a:avLst/>
          </a:prstGeom>
          <a:solidFill>
            <a:srgbClr val="142333"/>
          </a:solidFill>
          <a:ln w="12700">
            <a:solidFill>
              <a:srgbClr val="1E344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7406640" y="352044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Improvement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Roadmap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932688"/>
            <a:ext cx="8229600" cy="36576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1051560"/>
            <a:ext cx="1627632" cy="64008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051560"/>
            <a:ext cx="16276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74320" y="1371600"/>
            <a:ext cx="16276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4320" y="1764792"/>
            <a:ext cx="1627632" cy="256032"/>
          </a:xfrm>
          <a:prstGeom prst="rect">
            <a:avLst/>
          </a:prstGeom>
          <a:solidFill>
            <a:srgbClr val="142333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764792"/>
            <a:ext cx="1627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8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 / In Progress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74320" y="2103120"/>
            <a:ext cx="1627632" cy="2651760"/>
          </a:xfrm>
          <a:prstGeom prst="rect">
            <a:avLst/>
          </a:prstGeom>
          <a:solidFill>
            <a:srgbClr val="142333"/>
          </a:solidFill>
          <a:ln w="12700">
            <a:solidFill>
              <a:srgbClr val="1E344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5760" y="2194560"/>
            <a:ext cx="1444752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D8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D8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D8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D8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D8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039112" y="1051560"/>
            <a:ext cx="1627632" cy="64008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039112" y="1051560"/>
            <a:ext cx="16276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039112" y="1371600"/>
            <a:ext cx="16276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Layer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039112" y="1764792"/>
            <a:ext cx="1627632" cy="256032"/>
          </a:xfrm>
          <a:prstGeom prst="rect">
            <a:avLst/>
          </a:prstGeom>
          <a:solidFill>
            <a:srgbClr val="142333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039112" y="1764792"/>
            <a:ext cx="1627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8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039112" y="2103120"/>
            <a:ext cx="1627632" cy="2651760"/>
          </a:xfrm>
          <a:prstGeom prst="rect">
            <a:avLst/>
          </a:prstGeom>
          <a:solidFill>
            <a:srgbClr val="142333"/>
          </a:solidFill>
          <a:ln w="12700">
            <a:solidFill>
              <a:srgbClr val="1E344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130552" y="2194560"/>
            <a:ext cx="1444752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D8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Subtasks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D8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Recurrence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D8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Reminders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803904" y="1051560"/>
            <a:ext cx="1627632" cy="64008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803904" y="1051560"/>
            <a:ext cx="16276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803904" y="1371600"/>
            <a:ext cx="16276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803904" y="1764792"/>
            <a:ext cx="1627632" cy="256032"/>
          </a:xfrm>
          <a:prstGeom prst="rect">
            <a:avLst/>
          </a:prstGeom>
          <a:solidFill>
            <a:srgbClr val="14233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803904" y="1764792"/>
            <a:ext cx="1627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8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Near-term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803904" y="2103120"/>
            <a:ext cx="1627632" cy="2651760"/>
          </a:xfrm>
          <a:prstGeom prst="rect">
            <a:avLst/>
          </a:prstGeom>
          <a:solidFill>
            <a:srgbClr val="142333"/>
          </a:solidFill>
          <a:ln w="12700">
            <a:solidFill>
              <a:srgbClr val="1E344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895344" y="2194560"/>
            <a:ext cx="1444752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D8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reminders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D8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Neglected area detection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D8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automation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568696" y="1051560"/>
            <a:ext cx="1627632" cy="6400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568696" y="1051560"/>
            <a:ext cx="16276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568696" y="1371600"/>
            <a:ext cx="16276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Layer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568696" y="1764792"/>
            <a:ext cx="1627632" cy="256032"/>
          </a:xfrm>
          <a:prstGeom prst="rect">
            <a:avLst/>
          </a:prstGeom>
          <a:solidFill>
            <a:srgbClr val="142333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68696" y="1764792"/>
            <a:ext cx="1627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8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Mid-term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568696" y="2103120"/>
            <a:ext cx="1627632" cy="2651760"/>
          </a:xfrm>
          <a:prstGeom prst="rect">
            <a:avLst/>
          </a:prstGeom>
          <a:solidFill>
            <a:srgbClr val="142333"/>
          </a:solidFill>
          <a:ln w="12700">
            <a:solidFill>
              <a:srgbClr val="1E344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5660136" y="2194560"/>
            <a:ext cx="1444752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D8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D8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D8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7333488" y="1051560"/>
            <a:ext cx="1627632" cy="64008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333488" y="1051560"/>
            <a:ext cx="16276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5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7333488" y="1371600"/>
            <a:ext cx="16276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Layer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7333488" y="1764792"/>
            <a:ext cx="1627632" cy="256032"/>
          </a:xfrm>
          <a:prstGeom prst="rect">
            <a:avLst/>
          </a:prstGeom>
          <a:solidFill>
            <a:srgbClr val="142333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333488" y="1764792"/>
            <a:ext cx="1627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8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7333488" y="2103120"/>
            <a:ext cx="1627632" cy="2651760"/>
          </a:xfrm>
          <a:prstGeom prst="rect">
            <a:avLst/>
          </a:prstGeom>
          <a:solidFill>
            <a:srgbClr val="142333"/>
          </a:solidFill>
          <a:ln w="12700">
            <a:solidFill>
              <a:srgbClr val="1E344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7424928" y="2194560"/>
            <a:ext cx="1444752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D8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recommendations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D8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Life Coach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D8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guidance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57200" y="4828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B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designed for 100,000+ users and 10M+ API calls/day — scalable from day one.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Users Stay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932688"/>
            <a:ext cx="8229600" cy="36576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515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Loop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1051560" y="1508760"/>
            <a:ext cx="1371600" cy="731520"/>
          </a:xfrm>
          <a:prstGeom prst="ellipse">
            <a:avLst/>
          </a:prstGeom>
          <a:solidFill>
            <a:srgbClr val="142333"/>
          </a:solidFill>
          <a:ln w="19050">
            <a:solidFill>
              <a:srgbClr val="00C9A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51560" y="150876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Progress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737360" y="2258568"/>
            <a:ext cx="0" cy="274320"/>
          </a:xfrm>
          <a:prstGeom prst="line">
            <a:avLst/>
          </a:prstGeom>
          <a:noFill/>
          <a:ln w="25400">
            <a:solidFill>
              <a:srgbClr val="00C9A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554480" y="228600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051560" y="2560320"/>
            <a:ext cx="1371600" cy="731520"/>
          </a:xfrm>
          <a:prstGeom prst="ellipse">
            <a:avLst/>
          </a:prstGeom>
          <a:solidFill>
            <a:srgbClr val="142333"/>
          </a:solidFill>
          <a:ln w="19050">
            <a:solidFill>
              <a:srgbClr val="00C9A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51560" y="256032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Streak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737360" y="3310128"/>
            <a:ext cx="0" cy="274320"/>
          </a:xfrm>
          <a:prstGeom prst="line">
            <a:avLst/>
          </a:prstGeom>
          <a:noFill/>
          <a:ln w="25400">
            <a:solidFill>
              <a:srgbClr val="00C9A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554480" y="333756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1051560" y="3611880"/>
            <a:ext cx="1371600" cy="731520"/>
          </a:xfrm>
          <a:prstGeom prst="ellipse">
            <a:avLst/>
          </a:prstGeom>
          <a:solidFill>
            <a:srgbClr val="142333"/>
          </a:solidFill>
          <a:ln w="19050">
            <a:solidFill>
              <a:srgbClr val="00C9A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361188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 Engaged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291840" y="10515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Loop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886200" y="1508760"/>
            <a:ext cx="1371600" cy="731520"/>
          </a:xfrm>
          <a:prstGeom prst="ellipse">
            <a:avLst/>
          </a:prstGeom>
          <a:solidFill>
            <a:srgbClr val="142333"/>
          </a:solidFill>
          <a:ln w="19050">
            <a:solidFill>
              <a:srgbClr val="00C9A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86200" y="150876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Performance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0" y="2258568"/>
            <a:ext cx="0" cy="274320"/>
          </a:xfrm>
          <a:prstGeom prst="line">
            <a:avLst/>
          </a:prstGeom>
          <a:noFill/>
          <a:ln w="25400">
            <a:solidFill>
              <a:srgbClr val="00C9A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389120" y="228600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3886200" y="2560320"/>
            <a:ext cx="1371600" cy="731520"/>
          </a:xfrm>
          <a:prstGeom prst="ellipse">
            <a:avLst/>
          </a:prstGeom>
          <a:solidFill>
            <a:srgbClr val="142333"/>
          </a:solidFill>
          <a:ln w="19050">
            <a:solidFill>
              <a:srgbClr val="00C9A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886200" y="256032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 Insights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0" y="3310128"/>
            <a:ext cx="0" cy="274320"/>
          </a:xfrm>
          <a:prstGeom prst="line">
            <a:avLst/>
          </a:prstGeom>
          <a:noFill/>
          <a:ln w="25400">
            <a:solidFill>
              <a:srgbClr val="00C9A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389120" y="333756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3886200" y="3611880"/>
            <a:ext cx="1371600" cy="731520"/>
          </a:xfrm>
          <a:prstGeom prst="ellipse">
            <a:avLst/>
          </a:prstGeom>
          <a:solidFill>
            <a:srgbClr val="142333"/>
          </a:solidFill>
          <a:ln w="19050">
            <a:solidFill>
              <a:srgbClr val="00C9A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886200" y="361188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Behaviour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126480" y="10515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Loop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6720840" y="1508760"/>
            <a:ext cx="1371600" cy="731520"/>
          </a:xfrm>
          <a:prstGeom prst="ellipse">
            <a:avLst/>
          </a:prstGeom>
          <a:solidFill>
            <a:srgbClr val="142333"/>
          </a:solidFill>
          <a:ln w="19050">
            <a:solidFill>
              <a:srgbClr val="00C9A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720840" y="150876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Life Progress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7406640" y="2258568"/>
            <a:ext cx="0" cy="274320"/>
          </a:xfrm>
          <a:prstGeom prst="line">
            <a:avLst/>
          </a:prstGeom>
          <a:noFill/>
          <a:ln w="25400">
            <a:solidFill>
              <a:srgbClr val="00C9A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223760" y="228600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6720840" y="2560320"/>
            <a:ext cx="1371600" cy="731520"/>
          </a:xfrm>
          <a:prstGeom prst="ellipse">
            <a:avLst/>
          </a:prstGeom>
          <a:solidFill>
            <a:srgbClr val="142333"/>
          </a:solidFill>
          <a:ln w="19050">
            <a:solidFill>
              <a:srgbClr val="00C9A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720840" y="256032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Real Improvement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7406640" y="3310128"/>
            <a:ext cx="0" cy="274320"/>
          </a:xfrm>
          <a:prstGeom prst="line">
            <a:avLst/>
          </a:prstGeom>
          <a:noFill/>
          <a:ln w="25400">
            <a:solidFill>
              <a:srgbClr val="00C9A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223760" y="333756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6720840" y="3611880"/>
            <a:ext cx="1371600" cy="731520"/>
          </a:xfrm>
          <a:prstGeom prst="ellipse">
            <a:avLst/>
          </a:prstGeom>
          <a:solidFill>
            <a:srgbClr val="142333"/>
          </a:solidFill>
          <a:ln w="19050">
            <a:solidFill>
              <a:srgbClr val="00C9A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720840" y="361188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 Commitment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Advantage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932688"/>
            <a:ext cx="8229600" cy="36576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3657600"/>
        </p:xfrm>
        <a:graphic>
          <a:graphicData uri="http://schemas.openxmlformats.org/drawingml/2006/table">
            <a:tbl>
              <a:tblPr/>
              <a:tblGrid>
                <a:gridCol w="3200400"/>
                <a:gridCol w="1280160"/>
                <a:gridCol w="1280160"/>
                <a:gridCol w="1280160"/>
                <a:gridCol w="1188720"/>
              </a:tblGrid>
              <a:tr h="406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C9A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Capability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C9A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Life KPI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C9A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C9A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Todoist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C9A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Habitica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3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D8E4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Goal Setting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C9A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C9A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F53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F53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3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D8E4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KPI Tracking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C9A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F53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F53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F53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3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D8E4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Habit Tracking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C9A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F53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F53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C9A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3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D8E4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Activity Logging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C9A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F53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F53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F53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3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D8E4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Reviews &amp; Insights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C9A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F53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F53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F53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3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D8E4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Automation Engine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9A8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🔜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F53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F53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F53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3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D8E4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Coach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9A8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🔜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F53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F53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F53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3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D8E4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Life Operating System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C9A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F53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F53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F53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932688"/>
            <a:ext cx="8229600" cy="36576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97280"/>
            <a:ext cx="3840480" cy="3383280"/>
          </a:xfrm>
          <a:prstGeom prst="rect">
            <a:avLst/>
          </a:prstGeom>
          <a:solidFill>
            <a:srgbClr val="142333"/>
          </a:solidFill>
          <a:ln w="12700">
            <a:solidFill>
              <a:srgbClr val="1E344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97280"/>
            <a:ext cx="3840480" cy="502920"/>
          </a:xfrm>
          <a:prstGeom prst="rect">
            <a:avLst/>
          </a:prstGeom>
          <a:solidFill>
            <a:srgbClr val="1E3448"/>
          </a:solidFill>
          <a:ln w="12700">
            <a:solidFill>
              <a:srgbClr val="1E344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9728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8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PLAN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1737360"/>
            <a:ext cx="338328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D8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 Categories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D8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Tracking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D8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D8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D8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0" y="1097280"/>
            <a:ext cx="4114800" cy="3383280"/>
          </a:xfrm>
          <a:prstGeom prst="rect">
            <a:avLst/>
          </a:prstGeom>
          <a:solidFill>
            <a:srgbClr val="142333"/>
          </a:solidFill>
          <a:ln w="12700">
            <a:solidFill>
              <a:srgbClr val="1E344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0" y="1097280"/>
            <a:ext cx="4114800" cy="50292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0" y="109728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 ₹299–499/month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846320" y="1737360"/>
            <a:ext cx="356616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in Free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Sync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Coaching &amp; Guidance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Analytics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Unlimited Templates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 Engine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46177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Revenue Streams: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4846320"/>
            <a:ext cx="1508760" cy="228600"/>
          </a:xfrm>
          <a:prstGeom prst="rect">
            <a:avLst/>
          </a:prstGeom>
          <a:solidFill>
            <a:srgbClr val="142333"/>
          </a:solidFill>
          <a:ln w="12700">
            <a:solidFill>
              <a:srgbClr val="1E344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4846320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8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148840" y="4846320"/>
            <a:ext cx="1508760" cy="228600"/>
          </a:xfrm>
          <a:prstGeom prst="rect">
            <a:avLst/>
          </a:prstGeom>
          <a:solidFill>
            <a:srgbClr val="142333"/>
          </a:solidFill>
          <a:ln w="12700">
            <a:solidFill>
              <a:srgbClr val="1E344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148840" y="4846320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8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Premium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840480" y="4846320"/>
            <a:ext cx="1508760" cy="228600"/>
          </a:xfrm>
          <a:prstGeom prst="rect">
            <a:avLst/>
          </a:prstGeom>
          <a:solidFill>
            <a:srgbClr val="142333"/>
          </a:solidFill>
          <a:ln w="12700">
            <a:solidFill>
              <a:srgbClr val="1E344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840480" y="4846320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8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Coach Platform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532120" y="4846320"/>
            <a:ext cx="1508760" cy="228600"/>
          </a:xfrm>
          <a:prstGeom prst="rect">
            <a:avLst/>
          </a:prstGeom>
          <a:solidFill>
            <a:srgbClr val="142333"/>
          </a:solidFill>
          <a:ln w="12700">
            <a:solidFill>
              <a:srgbClr val="1E344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532120" y="4846320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8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223760" y="4846320"/>
            <a:ext cx="1508760" cy="228600"/>
          </a:xfrm>
          <a:prstGeom prst="rect">
            <a:avLst/>
          </a:prstGeom>
          <a:solidFill>
            <a:srgbClr val="142333"/>
          </a:solidFill>
          <a:ln w="12700">
            <a:solidFill>
              <a:srgbClr val="1E344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223760" y="4846320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8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Go-To-Market Strategy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932688"/>
            <a:ext cx="8229600" cy="36576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51560"/>
            <a:ext cx="2651760" cy="32004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5156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44475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Organic Growth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1920240"/>
            <a:ext cx="2651760" cy="2834640"/>
          </a:xfrm>
          <a:prstGeom prst="rect">
            <a:avLst/>
          </a:prstGeom>
          <a:solidFill>
            <a:srgbClr val="142333"/>
          </a:solidFill>
          <a:ln w="12700">
            <a:solidFill>
              <a:srgbClr val="1E344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2011680"/>
            <a:ext cx="237744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D8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Reddit communities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D8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 content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D8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Twitter / X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D8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Hunt launch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337560" y="1051560"/>
            <a:ext cx="2651760" cy="32004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37560" y="105156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337560" y="144475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Engine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3337560" y="1920240"/>
            <a:ext cx="2651760" cy="2834640"/>
          </a:xfrm>
          <a:prstGeom prst="rect">
            <a:avLst/>
          </a:prstGeom>
          <a:solidFill>
            <a:srgbClr val="142333"/>
          </a:solidFill>
          <a:ln w="12700">
            <a:solidFill>
              <a:srgbClr val="1E344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474720" y="2011680"/>
            <a:ext cx="237744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D8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Productivity content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D8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growth stories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D8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 systems thinking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D8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framework guides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217920" y="1051560"/>
            <a:ext cx="2651760" cy="32004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17920" y="105156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217920" y="144475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Influencer Partnerships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217920" y="1920240"/>
            <a:ext cx="2651760" cy="2834640"/>
          </a:xfrm>
          <a:prstGeom prst="rect">
            <a:avLst/>
          </a:prstGeom>
          <a:solidFill>
            <a:srgbClr val="142333"/>
          </a:solidFill>
          <a:ln w="12700">
            <a:solidFill>
              <a:srgbClr val="1E344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355080" y="2011680"/>
            <a:ext cx="237744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D8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Productivity creators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D8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 coaches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D8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 coaches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154680" y="256032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035040" y="256032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Funding Round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932688"/>
            <a:ext cx="8229600" cy="36576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058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$250K – $750K</a:t>
            </a:r>
            <a:endParaRPr lang="en-US" sz="5000" dirty="0"/>
          </a:p>
        </p:txBody>
      </p:sp>
      <p:sp>
        <p:nvSpPr>
          <p:cNvPr id="5" name="Text 3"/>
          <p:cNvSpPr/>
          <p:nvPr/>
        </p:nvSpPr>
        <p:spPr>
          <a:xfrm>
            <a:off x="457200" y="18288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8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Round  ·  18–24 Month Runway</a:t>
            </a:r>
            <a:endParaRPr lang="en-US" sz="14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457200" y="2286000"/>
          <a:ext cx="4114800" cy="2606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937760" y="2286000"/>
          <a:ext cx="3749040" cy="2606040"/>
        </p:xfrm>
        <a:graphic>
          <a:graphicData uri="http://schemas.openxmlformats.org/drawingml/2006/table">
            <a:tbl>
              <a:tblPr/>
              <a:tblGrid>
                <a:gridCol w="2560320"/>
                <a:gridCol w="1188720"/>
              </a:tblGrid>
              <a:tr h="4343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C9A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Area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C9A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Allocation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3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D8E4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 Dev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D8E4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3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D8E4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Dev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D8E4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3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D8E4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Marketing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D8E4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3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D8E4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Infrastructure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D8E4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3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D8E4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Operations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D8E4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Now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932688"/>
            <a:ext cx="8229600" cy="36576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515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D8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macro trends are converging: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508760"/>
            <a:ext cx="8229600" cy="960120"/>
          </a:xfrm>
          <a:prstGeom prst="rect">
            <a:avLst/>
          </a:prstGeom>
          <a:solidFill>
            <a:srgbClr val="142333"/>
          </a:solidFill>
          <a:ln w="12700">
            <a:solidFill>
              <a:srgbClr val="1E344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508760"/>
            <a:ext cx="640080" cy="96012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508760"/>
            <a:ext cx="640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234440" y="1600200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Personal Assistants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234440" y="1947672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8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 consumer adoption of AI-powered tools creates an audience ready for AI-guided life coaching.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606040"/>
            <a:ext cx="8229600" cy="960120"/>
          </a:xfrm>
          <a:prstGeom prst="rect">
            <a:avLst/>
          </a:prstGeom>
          <a:solidFill>
            <a:srgbClr val="142333"/>
          </a:solidFill>
          <a:ln w="12700">
            <a:solidFill>
              <a:srgbClr val="1E344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2606040"/>
            <a:ext cx="640080" cy="96012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606040"/>
            <a:ext cx="640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234440" y="2697480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Self-Improvement Boom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234440" y="3044952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8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global self-improvement market exceeds $13B, growing at 5–7% annually with no dominant life-OS product.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3703320"/>
            <a:ext cx="8229600" cy="960120"/>
          </a:xfrm>
          <a:prstGeom prst="rect">
            <a:avLst/>
          </a:prstGeom>
          <a:solidFill>
            <a:srgbClr val="142333"/>
          </a:solidFill>
          <a:ln w="12700">
            <a:solidFill>
              <a:srgbClr val="1E344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" y="3703320"/>
            <a:ext cx="640080" cy="96012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703320"/>
            <a:ext cx="640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234440" y="3794760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Productivity Software Adoption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234440" y="4142232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8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work and digital-first lifestyles have normalised app-based personal management at scale.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next major software category: Personal Life Operating Systems.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73152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 KPI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502920" y="16916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your life the way businesses manage performance.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02920" y="2423160"/>
            <a:ext cx="1828800" cy="411480"/>
          </a:xfrm>
          <a:prstGeom prst="rect">
            <a:avLst/>
          </a:prstGeom>
          <a:solidFill>
            <a:srgbClr val="142333"/>
          </a:solidFill>
          <a:ln w="19050">
            <a:solidFill>
              <a:srgbClr val="00C9A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242316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514600" y="2423160"/>
            <a:ext cx="1828800" cy="411480"/>
          </a:xfrm>
          <a:prstGeom prst="rect">
            <a:avLst/>
          </a:prstGeom>
          <a:solidFill>
            <a:srgbClr val="142333"/>
          </a:solidFill>
          <a:ln w="19050">
            <a:solidFill>
              <a:srgbClr val="00C9A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14600" y="242316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26280" y="2423160"/>
            <a:ext cx="1828800" cy="411480"/>
          </a:xfrm>
          <a:prstGeom prst="rect">
            <a:avLst/>
          </a:prstGeom>
          <a:solidFill>
            <a:srgbClr val="142333"/>
          </a:solidFill>
          <a:ln w="19050">
            <a:solidFill>
              <a:srgbClr val="00C9A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26280" y="242316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537960" y="2423160"/>
            <a:ext cx="1828800" cy="411480"/>
          </a:xfrm>
          <a:prstGeom prst="rect">
            <a:avLst/>
          </a:prstGeom>
          <a:solidFill>
            <a:srgbClr val="142333"/>
          </a:solidFill>
          <a:ln w="19050">
            <a:solidFill>
              <a:srgbClr val="00C9A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37960" y="242316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02920" y="306324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D8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operating system for human potential.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02920" y="3703320"/>
            <a:ext cx="2286000" cy="182880"/>
          </a:xfrm>
          <a:prstGeom prst="rect">
            <a:avLst/>
          </a:prstGeom>
          <a:solidFill>
            <a:srgbClr val="1E3448"/>
          </a:solidFill>
          <a:ln w="12700">
            <a:solidFill>
              <a:srgbClr val="1E344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834640" y="370332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Tracker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04088" y="3913632"/>
            <a:ext cx="2286000" cy="182880"/>
          </a:xfrm>
          <a:prstGeom prst="rect">
            <a:avLst/>
          </a:prstGeom>
          <a:solidFill>
            <a:srgbClr val="1E3448"/>
          </a:solidFill>
          <a:ln w="12700">
            <a:solidFill>
              <a:srgbClr val="1E344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035808" y="3913632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Planner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905256" y="4123944"/>
            <a:ext cx="2286000" cy="182880"/>
          </a:xfrm>
          <a:prstGeom prst="rect">
            <a:avLst/>
          </a:prstGeom>
          <a:solidFill>
            <a:srgbClr val="1E3448"/>
          </a:solidFill>
          <a:ln w="12700">
            <a:solidFill>
              <a:srgbClr val="1E344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36976" y="4123944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System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1106424" y="4334256"/>
            <a:ext cx="2286000" cy="182880"/>
          </a:xfrm>
          <a:prstGeom prst="rect">
            <a:avLst/>
          </a:prstGeom>
          <a:solidFill>
            <a:srgbClr val="1E3448"/>
          </a:solidFill>
          <a:ln w="12700">
            <a:solidFill>
              <a:srgbClr val="1E344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38144" y="4334256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 Engine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1307592" y="4544568"/>
            <a:ext cx="2286000" cy="18288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39312" y="4544568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Life Operating System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Life KPI – Investor Pitch Deck</dc:title>
  <dc:subject>PptxGenJS Presentation</dc:subject>
  <dc:creator>PptxGenJS</dc:creator>
  <cp:lastModifiedBy>PptxGenJS</cp:lastModifiedBy>
  <cp:revision>1</cp:revision>
  <dcterms:created xsi:type="dcterms:W3CDTF">2026-06-07T14:05:38Z</dcterms:created>
  <dcterms:modified xsi:type="dcterms:W3CDTF">2026-06-07T14:05:38Z</dcterms:modified>
</cp:coreProperties>
</file>